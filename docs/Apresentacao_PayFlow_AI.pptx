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28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15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51149"/>
            <a:ext cx="57150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PayFlow Credit Risk AI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583359"/>
            <a:ext cx="82867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Preditivo de Inadimplência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3078063"/>
            <a:ext cx="82867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Leonardo Gonzales Mendoza | Reinaldo Fernandes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4736306"/>
            <a:ext cx="20252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FIAP Pós Tech - AI Scientist | Março/2026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Inadimplência Impacta Lucratividade da PayFlow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312664"/>
            <a:ext cx="2524116" cy="214312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094" y="1526977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98668" y="2012752"/>
            <a:ext cx="8697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Desafio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2336006"/>
            <a:ext cx="20954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Taxas elevadas de default_90d comprometem o fluxo de caixa e a sustentabilidade.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3309928" y="1312664"/>
            <a:ext cx="2524116" cy="21431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4199604" y="1669852"/>
            <a:ext cx="74473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3524241" y="1993106"/>
            <a:ext cx="20954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Perdas financeiras recorrentes e redução da capacidade de novos empréstimos.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6048356" y="1312664"/>
            <a:ext cx="2524116" cy="21431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950" y="1526977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29996" y="2012752"/>
            <a:ext cx="7608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6262669" y="2336006"/>
            <a:ext cx="20954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Reduzir o risco de crédito através de um modelo de IA de alta precisão.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571500" y="3884414"/>
            <a:ext cx="8001000" cy="4429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571500" y="3884414"/>
            <a:ext cx="28575" cy="44291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571500" y="3884414"/>
            <a:ext cx="8001000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identificação precoce de perfis de risco é fundamental para a sustentabilidade financeira da PayFlow."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Estruturação do Projeto em 5 Fases Estratégicas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928688" y="1455539"/>
            <a:ext cx="571500" cy="5715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8" y="1626989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169914"/>
            <a:ext cx="1285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Understanding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1068884" y="2505670"/>
            <a:ext cx="2911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</a:t>
            </a:r>
            <a:endParaRPr lang="en-US" sz="727" dirty="0"/>
          </a:p>
        </p:txBody>
      </p:sp>
      <p:sp>
        <p:nvSpPr>
          <p:cNvPr id="8" name="Shape 4"/>
          <p:cNvSpPr/>
          <p:nvPr/>
        </p:nvSpPr>
        <p:spPr>
          <a:xfrm>
            <a:off x="2607469" y="1525191"/>
            <a:ext cx="571500" cy="5715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8919" y="1696641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7786" y="2239566"/>
            <a:ext cx="12108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Understanding</a:t>
            </a:r>
            <a:endParaRPr lang="en-US" sz="784" dirty="0"/>
          </a:p>
        </p:txBody>
      </p:sp>
      <p:sp>
        <p:nvSpPr>
          <p:cNvPr id="11" name="Text 6"/>
          <p:cNvSpPr/>
          <p:nvPr/>
        </p:nvSpPr>
        <p:spPr>
          <a:xfrm>
            <a:off x="2736949" y="2436019"/>
            <a:ext cx="3125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4286250" y="1525191"/>
            <a:ext cx="571500" cy="5715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1696641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63901" y="2239566"/>
            <a:ext cx="101619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784" dirty="0"/>
          </a:p>
        </p:txBody>
      </p:sp>
      <p:sp>
        <p:nvSpPr>
          <p:cNvPr id="15" name="Text 9"/>
          <p:cNvSpPr/>
          <p:nvPr/>
        </p:nvSpPr>
        <p:spPr>
          <a:xfrm>
            <a:off x="4415730" y="2436019"/>
            <a:ext cx="3125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5965031" y="1525191"/>
            <a:ext cx="571500" cy="5715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7906" y="1696641"/>
            <a:ext cx="2857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70389" y="2239566"/>
            <a:ext cx="5607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Modeling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6090047" y="2436019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4</a:t>
            </a:r>
            <a:endParaRPr lang="en-US" sz="727" dirty="0"/>
          </a:p>
        </p:txBody>
      </p:sp>
      <p:sp>
        <p:nvSpPr>
          <p:cNvPr id="20" name="Shape 13"/>
          <p:cNvSpPr/>
          <p:nvPr/>
        </p:nvSpPr>
        <p:spPr>
          <a:xfrm>
            <a:off x="7643813" y="1525191"/>
            <a:ext cx="571500" cy="5715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5263" y="1696641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13452" y="2239566"/>
            <a:ext cx="6322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784" dirty="0"/>
          </a:p>
        </p:txBody>
      </p:sp>
      <p:sp>
        <p:nvSpPr>
          <p:cNvPr id="23" name="Text 15"/>
          <p:cNvSpPr/>
          <p:nvPr/>
        </p:nvSpPr>
        <p:spPr>
          <a:xfrm>
            <a:off x="7773293" y="2436019"/>
            <a:ext cx="3125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5</a:t>
            </a:r>
            <a:endParaRPr lang="en-US" sz="727" dirty="0"/>
          </a:p>
        </p:txBody>
      </p:sp>
      <p:sp>
        <p:nvSpPr>
          <p:cNvPr id="24" name="Shape 16"/>
          <p:cNvSpPr/>
          <p:nvPr/>
        </p:nvSpPr>
        <p:spPr>
          <a:xfrm>
            <a:off x="571500" y="3341489"/>
            <a:ext cx="8001000" cy="4429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7"/>
          <p:cNvSpPr/>
          <p:nvPr/>
        </p:nvSpPr>
        <p:spPr>
          <a:xfrm>
            <a:off x="571500" y="3341489"/>
            <a:ext cx="28575" cy="44291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18"/>
          <p:cNvSpPr/>
          <p:nvPr/>
        </p:nvSpPr>
        <p:spPr>
          <a:xfrm>
            <a:off x="571500" y="3341489"/>
            <a:ext cx="8001000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 uso do framework CRISP-DM garante rigor analítico e alinhamento total com os objetivos de negócio da PayFlow."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com 5.000 Clientes | 12% de Inadimplência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281" y="1169789"/>
            <a:ext cx="285750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929188" y="1349666"/>
            <a:ext cx="3929063" cy="15948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2"/>
          <p:cNvSpPr/>
          <p:nvPr/>
        </p:nvSpPr>
        <p:spPr>
          <a:xfrm>
            <a:off x="4929188" y="1349666"/>
            <a:ext cx="28575" cy="159484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5143500" y="1563979"/>
            <a:ext cx="35004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Variáveis</a:t>
            </a:r>
            <a:endParaRPr lang="en-US" sz="119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944384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29238" y="1915809"/>
            <a:ext cx="8518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score_credito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215846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29238" y="2187271"/>
            <a:ext cx="11162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utilizacao_credito</a:t>
            </a:r>
            <a:endParaRPr lang="en-US" sz="942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487309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29238" y="2458734"/>
            <a:ext cx="13751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dias_atraso_max_12m</a:t>
            </a:r>
            <a:endParaRPr lang="en-US" sz="942" dirty="0"/>
          </a:p>
        </p:txBody>
      </p:sp>
      <p:sp>
        <p:nvSpPr>
          <p:cNvPr id="14" name="Text 7"/>
          <p:cNvSpPr/>
          <p:nvPr/>
        </p:nvSpPr>
        <p:spPr>
          <a:xfrm>
            <a:off x="4929188" y="3230259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 desbalanceamento da base reflete o cenário real de crédito e exige técnicas específicas de modelagem para garantir a captura eficaz do risco."</a:t>
            </a:r>
            <a:endParaRPr lang="en-US" sz="942" dirty="0"/>
          </a:p>
        </p:txBody>
      </p:sp>
      <p:sp>
        <p:nvSpPr>
          <p:cNvPr id="15" name="Text 8"/>
          <p:cNvSpPr/>
          <p:nvPr/>
        </p:nvSpPr>
        <p:spPr>
          <a:xfrm>
            <a:off x="571500" y="4754166"/>
            <a:ext cx="173771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Fonte: Base Histórica PayFlow 2024-2025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🚫 Variáveis com Informação Futura Removidas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9789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174254"/>
            <a:ext cx="193774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parcelas_pagas_ate_3m</a:t>
            </a:r>
            <a:endParaRPr lang="en-US" sz="109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41264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1545729"/>
            <a:ext cx="136981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status_apos_90d</a:t>
            </a:r>
            <a:endParaRPr lang="en-US" sz="1090" dirty="0"/>
          </a:p>
        </p:txBody>
      </p:sp>
      <p:sp>
        <p:nvSpPr>
          <p:cNvPr id="8" name="Text 3"/>
          <p:cNvSpPr/>
          <p:nvPr/>
        </p:nvSpPr>
        <p:spPr>
          <a:xfrm>
            <a:off x="571500" y="1912739"/>
            <a:ext cx="48006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Estas variáveis continham informações que só seriam conhecidas </a:t>
            </a: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decisão de crédito, o que causaria um vazamento de dados (Data Leakage) e invalidaria o modelo em produção.</a:t>
            </a:r>
            <a:endParaRPr lang="en-US" sz="942" dirty="0"/>
          </a:p>
        </p:txBody>
      </p:sp>
      <p:sp>
        <p:nvSpPr>
          <p:cNvPr id="9" name="Shape 4"/>
          <p:cNvSpPr/>
          <p:nvPr/>
        </p:nvSpPr>
        <p:spPr>
          <a:xfrm>
            <a:off x="571500" y="2815642"/>
            <a:ext cx="4800600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5"/>
          <p:cNvSpPr/>
          <p:nvPr/>
        </p:nvSpPr>
        <p:spPr>
          <a:xfrm>
            <a:off x="571500" y="2815642"/>
            <a:ext cx="28575" cy="6000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6"/>
          <p:cNvSpPr/>
          <p:nvPr/>
        </p:nvSpPr>
        <p:spPr>
          <a:xfrm>
            <a:off x="571500" y="2815642"/>
            <a:ext cx="4800600" cy="6000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prevenção de data leakage é o que separa modelos teóricos de soluções de produção confiáveis e éticas."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5657850" y="1169789"/>
            <a:ext cx="3200400" cy="91797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8"/>
          <p:cNvSpPr/>
          <p:nvPr/>
        </p:nvSpPr>
        <p:spPr>
          <a:xfrm>
            <a:off x="5657850" y="1169789"/>
            <a:ext cx="3200400" cy="2857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5872163" y="1498402"/>
            <a:ext cx="27717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Garantia de validade do modelo - maturidade analítica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571500" y="4754166"/>
            <a:ext cx="18127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Saneamento de Base | FIAP Pós Tech 2026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Variável Estratégica: Comprometimento de Renda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312664"/>
            <a:ext cx="4714875" cy="10251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71500" y="1312664"/>
            <a:ext cx="57150" cy="102512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7250" y="1598414"/>
            <a:ext cx="41433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comprometimento_renda = 
valor_solicitado / renda_mensal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2623542"/>
            <a:ext cx="4714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Transformação de dados brutos em inteligência de negócio acionável.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943560"/>
            <a:ext cx="4714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a capacidade real de pagamento do cliente frente ao empréstimo.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3755045"/>
            <a:ext cx="4714875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3755045"/>
            <a:ext cx="28575" cy="6000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1500" y="3755045"/>
            <a:ext cx="4714875" cy="6000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"Variáveis derivadas muitas vezes capturam nuances que os dados originais não mostram isoladamente."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15226"/>
            <a:ext cx="857250" cy="8572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15000" y="2786788"/>
            <a:ext cx="3143250" cy="1165771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15000" y="2786788"/>
            <a:ext cx="3143250" cy="1165771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importa?</a:t>
            </a:r>
            <a:r>
              <a:rPr lang="en-US" sz="94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Esta variável apresentou a maior correlação direta com a inadimplência em nossa análise exploratória.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Classifier: Robustez e Interpretabilidade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122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169789"/>
            <a:ext cx="4486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Robusto a Outliers: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Menor sensibilidade a valores extremos na base de dados.</a:t>
            </a:r>
            <a:endParaRPr lang="en-US" sz="88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27002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1655564"/>
            <a:ext cx="4486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Relações Não-Lineares: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Captura padrões complexos entre variáveis de crédito.</a:t>
            </a:r>
            <a:endParaRPr lang="en-US" sz="8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41339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148483"/>
            <a:ext cx="44827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Importance: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Identifica os principais drivers da inadimplência.</a:t>
            </a:r>
            <a:endParaRPr lang="en-US" sz="885" dirty="0"/>
          </a:p>
        </p:txBody>
      </p:sp>
      <p:sp>
        <p:nvSpPr>
          <p:cNvPr id="10" name="Shape 4"/>
          <p:cNvSpPr/>
          <p:nvPr/>
        </p:nvSpPr>
        <p:spPr>
          <a:xfrm>
            <a:off x="571500" y="2541389"/>
            <a:ext cx="4800600" cy="66615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5"/>
          <p:cNvSpPr/>
          <p:nvPr/>
        </p:nvSpPr>
        <p:spPr>
          <a:xfrm>
            <a:off x="571500" y="2541389"/>
            <a:ext cx="4800600" cy="2857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714375" y="2684264"/>
            <a:ext cx="45148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HIPERPARÂMETROS OTIMIZADOS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714375" y="2880717"/>
            <a:ext cx="45148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n_estimators: 200 | max_depth: 10 | min_samples_split: 5</a:t>
            </a:r>
            <a:endParaRPr lang="en-US" sz="834" dirty="0"/>
          </a:p>
        </p:txBody>
      </p:sp>
      <p:sp>
        <p:nvSpPr>
          <p:cNvPr id="14" name="Shape 8"/>
          <p:cNvSpPr/>
          <p:nvPr/>
        </p:nvSpPr>
        <p:spPr>
          <a:xfrm>
            <a:off x="571500" y="3464719"/>
            <a:ext cx="4800600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9"/>
          <p:cNvSpPr/>
          <p:nvPr/>
        </p:nvSpPr>
        <p:spPr>
          <a:xfrm>
            <a:off x="571500" y="3464719"/>
            <a:ext cx="28575" cy="6000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/>
          <p:nvPr/>
        </p:nvSpPr>
        <p:spPr>
          <a:xfrm>
            <a:off x="571500" y="3464719"/>
            <a:ext cx="4800600" cy="6000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escolha do Random Forest equilibra perfeitamente performance técnica com explicabilidade para o negócio."</a:t>
            </a:r>
            <a:endParaRPr lang="en-US" sz="942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1169789"/>
            <a:ext cx="2857500" cy="25003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1500" y="4754166"/>
            <a:ext cx="18573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4: Modeling | Random Forest Classifier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 de 34%: Identificando 1 em cada 3 Inadimplentes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703659" y="1169789"/>
            <a:ext cx="10382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Técnica: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1741931" y="1169789"/>
            <a:ext cx="31515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Random Forest atingiu um Recall de 0.34 na base de teste.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03659" y="1752674"/>
            <a:ext cx="73762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Eficiência de Captura: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441279" y="1752674"/>
            <a:ext cx="345218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cada 100 clientes que efetivamente se tornariam inadimplentes, o modelo identifica 34 preventivamente.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03659" y="2541277"/>
            <a:ext cx="68725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Equilíbrio de Negócio: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390910" y="2541277"/>
            <a:ext cx="350255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threshold foi ajustado para minimizar falsos negativos sem prejudicar excessivamente a aprovação de bons clientes.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3444180"/>
            <a:ext cx="4321969" cy="75723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71500" y="3444180"/>
            <a:ext cx="28575" cy="75723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71500" y="3444180"/>
            <a:ext cx="4321969" cy="7572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cada 100 inadimplentes, identificamos 34. Mesmo com Recall moderado, o impacto financeiro na redução de perdas é imediato e mensurável."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48524" y="1169789"/>
            <a:ext cx="6786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Predito: NÃO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501384" y="1169789"/>
            <a:ext cx="6304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Predito: SIM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 rot="-5400000">
            <a:off x="4893469" y="2098477"/>
            <a:ext cx="5214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Realidade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5661422" y="1469827"/>
            <a:ext cx="1393031" cy="10358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81142" y="1777008"/>
            <a:ext cx="1535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VN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139160" y="1955602"/>
            <a:ext cx="43755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88%</a:t>
            </a:r>
            <a:endParaRPr lang="en-US" sz="1397" dirty="0"/>
          </a:p>
        </p:txBody>
      </p:sp>
      <p:sp>
        <p:nvSpPr>
          <p:cNvPr id="19" name="Shape 16"/>
          <p:cNvSpPr/>
          <p:nvPr/>
        </p:nvSpPr>
        <p:spPr>
          <a:xfrm>
            <a:off x="7125891" y="1469827"/>
            <a:ext cx="1393031" cy="10358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753648" y="1777008"/>
            <a:ext cx="1375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FP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7438430" y="1955602"/>
            <a:ext cx="76795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Laranja</a:t>
            </a:r>
            <a:endParaRPr lang="en-US" sz="1397" dirty="0"/>
          </a:p>
        </p:txBody>
      </p:sp>
      <p:sp>
        <p:nvSpPr>
          <p:cNvPr id="22" name="Shape 19"/>
          <p:cNvSpPr/>
          <p:nvPr/>
        </p:nvSpPr>
        <p:spPr>
          <a:xfrm>
            <a:off x="5661422" y="2577108"/>
            <a:ext cx="1393031" cy="10358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85607" y="2884289"/>
            <a:ext cx="1446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FN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849838" y="3062883"/>
            <a:ext cx="10161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Vermelho</a:t>
            </a:r>
            <a:endParaRPr lang="en-US" sz="1397" dirty="0"/>
          </a:p>
        </p:txBody>
      </p:sp>
      <p:sp>
        <p:nvSpPr>
          <p:cNvPr id="25" name="Shape 22"/>
          <p:cNvSpPr/>
          <p:nvPr/>
        </p:nvSpPr>
        <p:spPr>
          <a:xfrm>
            <a:off x="7125891" y="2577108"/>
            <a:ext cx="1393031" cy="10358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749183" y="2884289"/>
            <a:ext cx="1464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7609880" y="3062883"/>
            <a:ext cx="42505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34%</a:t>
            </a:r>
            <a:endParaRPr lang="en-US" sz="1397" dirty="0"/>
          </a:p>
        </p:txBody>
      </p:sp>
      <p:sp>
        <p:nvSpPr>
          <p:cNvPr id="28" name="Text 25"/>
          <p:cNvSpPr/>
          <p:nvPr/>
        </p:nvSpPr>
        <p:spPr>
          <a:xfrm>
            <a:off x="571500" y="4754166"/>
            <a:ext cx="279142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de Avaliação do Modelo | Matriz de Confusão PayFlow AI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de Negócio Baseadas na Probabilidade de Risco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312664"/>
            <a:ext cx="2524116" cy="250031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094" y="1630561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827" y="2187773"/>
            <a:ext cx="6054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20%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1432601" y="2544961"/>
            <a:ext cx="8018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APROVAR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14375" y="2861072"/>
            <a:ext cx="22383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de baixo risco. Aprovação automática para otimizar o fluxo operacional.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09928" y="1312664"/>
            <a:ext cx="2524116" cy="25003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60" y="1630561"/>
            <a:ext cx="42862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37977" y="2187773"/>
            <a:ext cx="10679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- 40%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3841524" y="2544961"/>
            <a:ext cx="146089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MANUAL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452803" y="2861072"/>
            <a:ext cx="22383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Zona de incerteza. Encaminhamento para revisão detalhada por analista de crédito.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48356" y="1312664"/>
            <a:ext cx="2524116" cy="250031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950" y="1630561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97861" y="2187773"/>
            <a:ext cx="62507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40%</a:t>
            </a:r>
            <a:endParaRPr lang="en-US" sz="1397" dirty="0"/>
          </a:p>
        </p:txBody>
      </p:sp>
      <p:sp>
        <p:nvSpPr>
          <p:cNvPr id="17" name="Text 11"/>
          <p:cNvSpPr/>
          <p:nvPr/>
        </p:nvSpPr>
        <p:spPr>
          <a:xfrm>
            <a:off x="7023757" y="2544961"/>
            <a:ext cx="5732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NEGAR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6191231" y="2861072"/>
            <a:ext cx="22383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 risco de inadimplência. Bloqueio preventivo para proteção do caixa da PayFlow.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71500" y="4241602"/>
            <a:ext cx="8001000" cy="4429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571500" y="4241602"/>
            <a:ext cx="28575" cy="44291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571500" y="4241602"/>
            <a:ext cx="8001000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 modelo não substitui o analista, mas otimiza seu tempo focando nos casos de dúvida e automatizando o óbvio."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571500" y="4754166"/>
            <a:ext cx="25038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 de Decisão | Estratégia de Concessão de Crédito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Script predict.py em Ação: Simulação de Caso Real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169789"/>
            <a:ext cx="3857625" cy="25003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71500" y="1169789"/>
            <a:ext cx="3857625" cy="285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99282"/>
            <a:ext cx="150019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556" y="1384102"/>
            <a:ext cx="22895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(DADOS DO CLIENTE)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85813" y="1728788"/>
            <a:ext cx="342900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E3A8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score_credito: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650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85" b="1" dirty="0">
                <a:solidFill>
                  <a:srgbClr val="1E3A8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utilizacao_credito: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45%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85" b="1" dirty="0">
                <a:solidFill>
                  <a:srgbClr val="1E3A8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dias_atraso_max_12m: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15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85" b="1" dirty="0">
                <a:solidFill>
                  <a:srgbClr val="1E3A8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comprometimento_renda:</a:t>
            </a:r>
            <a:r>
              <a:rPr lang="en-US" sz="942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30%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714875" y="1169789"/>
            <a:ext cx="3857625" cy="25003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4714875" y="1169789"/>
            <a:ext cx="3857625" cy="285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399282"/>
            <a:ext cx="150019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4931" y="1384102"/>
            <a:ext cx="19055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(PREDIÇÃO IA)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4929188" y="1759148"/>
            <a:ext cx="168949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E3A8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probabilidade_default: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6695480" y="1759148"/>
            <a:ext cx="4607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35.20%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929188" y="2103109"/>
            <a:ext cx="3429000" cy="445759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4929188" y="2103109"/>
            <a:ext cx="28575" cy="44575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4929188" y="2103109"/>
            <a:ext cx="3429000" cy="44575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92400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DECISÃO: "ANÁLISE MANUAL"</a:t>
            </a:r>
            <a:endParaRPr lang="en-US" sz="885" dirty="0"/>
          </a:p>
        </p:txBody>
      </p:sp>
      <p:sp>
        <p:nvSpPr>
          <p:cNvPr id="18" name="Shape 13"/>
          <p:cNvSpPr/>
          <p:nvPr/>
        </p:nvSpPr>
        <p:spPr>
          <a:xfrm>
            <a:off x="571500" y="3955852"/>
            <a:ext cx="8001000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571500" y="3955852"/>
            <a:ext cx="28575" cy="6000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571500" y="3955852"/>
            <a:ext cx="8001000" cy="6000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automação via script permite integrações rápidas com sistemas de checkout e ERP, garantindo decisões em tempo real."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571500" y="4754166"/>
            <a:ext cx="22306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Demonstração Técnica | Modelo Random Forest v1.0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Evolução do Projeto: Do Modelo à Produção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1000125" y="1169789"/>
            <a:ext cx="47220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 2026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1000125" y="1319808"/>
            <a:ext cx="47220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Benchmarking de Modelos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1000125" y="1568053"/>
            <a:ext cx="47220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Comparação de performance com XGBoost e LightGBM para otimização de Recall.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000125" y="1870937"/>
            <a:ext cx="52077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2026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000125" y="2020956"/>
            <a:ext cx="52077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 Avançada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000125" y="2269201"/>
            <a:ext cx="52077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de dados externos de Bureau de Crédito e análise de comportamento temporal.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1000125" y="2572085"/>
            <a:ext cx="53185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 2026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000125" y="2722104"/>
            <a:ext cx="531852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em Produção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1000125" y="2970349"/>
            <a:ext cx="531852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de API escalável em Kubernetes para consumo em tempo real pela PayFlow.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1000125" y="3273233"/>
            <a:ext cx="55060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2027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000125" y="3423252"/>
            <a:ext cx="55060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e Dashboard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000125" y="3671497"/>
            <a:ext cx="550604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de Dashboard Streamlit para acompanhamento de drift e performance do modelo.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71500" y="4002956"/>
            <a:ext cx="8286750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71500" y="4002956"/>
            <a:ext cx="28575" cy="32861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71500" y="4002956"/>
            <a:ext cx="8286750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 projeto é uma jornada contínua de melhoria e adaptação às mudanças dinâmicas do mercado de crédito."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71500" y="4754166"/>
            <a:ext cx="195203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Estratégico | PayFlow Credit Risk AI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Estruturado e Pronto para Escalar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98364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169789"/>
            <a:ext cx="44719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 Rigorosa: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Aplicação do framework CRISP-DM em todas as etapas do desenvolvimento.</a:t>
            </a:r>
            <a:endParaRPr lang="en-US" sz="88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1249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4388" y="1752674"/>
            <a:ext cx="44719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de Negócio: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Redução direta de perdas financeiras e aumento da eficiência na concessão de crédito.</a:t>
            </a:r>
            <a:endParaRPr lang="en-US" sz="8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64135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14388" y="2335560"/>
            <a:ext cx="44719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Sólida:</a:t>
            </a: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Modelo validado tecnicamente e alinhado com as necessidades estratégicas da PayFlow.</a:t>
            </a:r>
            <a:endParaRPr lang="en-US" sz="885" dirty="0"/>
          </a:p>
        </p:txBody>
      </p:sp>
      <p:sp>
        <p:nvSpPr>
          <p:cNvPr id="10" name="Shape 4"/>
          <p:cNvSpPr/>
          <p:nvPr/>
        </p:nvSpPr>
        <p:spPr>
          <a:xfrm>
            <a:off x="571500" y="3032745"/>
            <a:ext cx="4714875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5"/>
          <p:cNvSpPr/>
          <p:nvPr/>
        </p:nvSpPr>
        <p:spPr>
          <a:xfrm>
            <a:off x="571500" y="3032745"/>
            <a:ext cx="28575" cy="60007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571500" y="3032745"/>
            <a:ext cx="4714875" cy="6000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PayFlow agora possui uma base analítica sólida para decisões de crédito baseadas em dados, pronta para liderar o mercado."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5715000" y="1169789"/>
            <a:ext cx="3143250" cy="83581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8"/>
          <p:cNvSpPr/>
          <p:nvPr/>
        </p:nvSpPr>
        <p:spPr>
          <a:xfrm>
            <a:off x="5715000" y="1169789"/>
            <a:ext cx="28575" cy="835819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5886450" y="1341239"/>
            <a:ext cx="28003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 Aplicada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5886450" y="1555552"/>
            <a:ext cx="28003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CRISP-DM: Do entendimento de negócio à avaliação técnica.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5715000" y="2177058"/>
            <a:ext cx="3143250" cy="83581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5715000" y="2177058"/>
            <a:ext cx="28575" cy="83581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5886450" y="2348508"/>
            <a:ext cx="28003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Pronto para Evolução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5886450" y="2562820"/>
            <a:ext cx="28003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preparada para a Fase 2 e novos modelos.</a:t>
            </a:r>
            <a:endParaRPr lang="en-US" sz="834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3327202"/>
            <a:ext cx="571500" cy="571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34708" y="3984427"/>
            <a:ext cx="21038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SELO DE QUALIDADE ANALÍTICA</a:t>
            </a:r>
            <a:endParaRPr lang="en-US" sz="683" dirty="0"/>
          </a:p>
        </p:txBody>
      </p:sp>
      <p:sp>
        <p:nvSpPr>
          <p:cNvPr id="23" name="Text 16"/>
          <p:cNvSpPr/>
          <p:nvPr/>
        </p:nvSpPr>
        <p:spPr>
          <a:xfrm>
            <a:off x="571500" y="4754166"/>
            <a:ext cx="180915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 do Projeto | FIAP Pós Tech 2026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713607"/>
            <a:ext cx="82867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613720"/>
            <a:ext cx="21359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Leonardo Gonzales Mendoza</a:t>
            </a:r>
            <a:endParaRPr lang="en-US" sz="98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8393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1164" y="2844105"/>
            <a:ext cx="143768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@LeonardoGMendoza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3136106" y="2613720"/>
            <a:ext cx="18305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Reinaldo Fernandes</a:t>
            </a:r>
            <a:endParaRPr lang="en-US" sz="98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106" y="2858393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05770" y="2844105"/>
            <a:ext cx="16609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@ReinaldoFernandes2013</a:t>
            </a:r>
            <a:endParaRPr lang="en-US" sz="942" dirty="0"/>
          </a:p>
        </p:txBody>
      </p:sp>
      <p:sp>
        <p:nvSpPr>
          <p:cNvPr id="10" name="Shape 5"/>
          <p:cNvSpPr/>
          <p:nvPr/>
        </p:nvSpPr>
        <p:spPr>
          <a:xfrm>
            <a:off x="571500" y="3596878"/>
            <a:ext cx="8001000" cy="9751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6"/>
          <p:cNvSpPr/>
          <p:nvPr/>
        </p:nvSpPr>
        <p:spPr>
          <a:xfrm>
            <a:off x="571500" y="3596878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571500" y="388977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inteligência artificial não substitui o julgamento humano, ela o potencializa, permitindo decisões mais precisas e estratégicas no mundo financeiro."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71500" y="4432697"/>
            <a:ext cx="8001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PROF. ALEXANDRE SANTOS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571500" y="4736306"/>
            <a:ext cx="1680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FIAP Pós Tech - AI Scientist | 2026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Microsoft Office PowerPoint</Application>
  <PresentationFormat>Apresentação na tela (16:9)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Fira Code</vt:lpstr>
      <vt:lpstr>monospace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Reinaldo Fernandes - Kobel</cp:lastModifiedBy>
  <cp:revision>1</cp:revision>
  <dcterms:created xsi:type="dcterms:W3CDTF">2026-03-18T14:44:49Z</dcterms:created>
  <dcterms:modified xsi:type="dcterms:W3CDTF">2026-03-18T19:41:20Z</dcterms:modified>
</cp:coreProperties>
</file>